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64F21E-026A-45B9-8D54-95CAB631EA77}" v="7" dt="2026-07-15T13:01:52.2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el El-Qamash" userId="dcf6721a-495b-4910-9497-6e783eafd4a4" providerId="ADAL" clId="{77E9CEDD-FC04-478F-B5E0-81F94C89178F}"/>
    <pc:docChg chg="undo custSel modSld">
      <pc:chgData name="Wael El-Qamash" userId="dcf6721a-495b-4910-9497-6e783eafd4a4" providerId="ADAL" clId="{77E9CEDD-FC04-478F-B5E0-81F94C89178F}" dt="2026-07-15T14:58:56.128" v="491" actId="14100"/>
      <pc:docMkLst>
        <pc:docMk/>
      </pc:docMkLst>
      <pc:sldChg chg="addSp modSp mod">
        <pc:chgData name="Wael El-Qamash" userId="dcf6721a-495b-4910-9497-6e783eafd4a4" providerId="ADAL" clId="{77E9CEDD-FC04-478F-B5E0-81F94C89178F}" dt="2026-07-15T14:58:56.128" v="491" actId="14100"/>
        <pc:sldMkLst>
          <pc:docMk/>
          <pc:sldMk cId="0" sldId="256"/>
        </pc:sldMkLst>
        <pc:spChg chg="mod">
          <ac:chgData name="Wael El-Qamash" userId="dcf6721a-495b-4910-9497-6e783eafd4a4" providerId="ADAL" clId="{77E9CEDD-FC04-478F-B5E0-81F94C89178F}" dt="2026-07-15T12:56:51.350" v="142" actId="20577"/>
          <ac:spMkLst>
            <pc:docMk/>
            <pc:sldMk cId="0" sldId="256"/>
            <ac:spMk id="34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1:37.099" v="47" actId="2057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1:58.702" v="54" actId="20577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11.199" v="70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26.571" v="97" actId="20577"/>
          <ac:spMkLst>
            <pc:docMk/>
            <pc:sldMk cId="0" sldId="256"/>
            <ac:spMk id="47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37.472" v="117" actId="20577"/>
          <ac:spMkLst>
            <pc:docMk/>
            <pc:sldMk cId="0" sldId="256"/>
            <ac:spMk id="49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28:07.206" v="122" actId="20577"/>
          <ac:spMkLst>
            <pc:docMk/>
            <pc:sldMk cId="0" sldId="256"/>
            <ac:spMk id="51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0:26.537" v="127" actId="108"/>
          <ac:spMkLst>
            <pc:docMk/>
            <pc:sldMk cId="0" sldId="256"/>
            <ac:spMk id="55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5:25.127" v="129" actId="33524"/>
          <ac:spMkLst>
            <pc:docMk/>
            <pc:sldMk cId="0" sldId="256"/>
            <ac:spMk id="59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3:15:02.222" v="485" actId="20577"/>
          <ac:spMkLst>
            <pc:docMk/>
            <pc:sldMk cId="0" sldId="256"/>
            <ac:spMk id="66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7:06.605" v="146" actId="20577"/>
          <ac:spMkLst>
            <pc:docMk/>
            <pc:sldMk cId="0" sldId="256"/>
            <ac:spMk id="85" creationId="{00000000-0000-0000-0000-000000000000}"/>
          </ac:spMkLst>
        </pc:spChg>
        <pc:picChg chg="add mod">
          <ac:chgData name="Wael El-Qamash" userId="dcf6721a-495b-4910-9497-6e783eafd4a4" providerId="ADAL" clId="{77E9CEDD-FC04-478F-B5E0-81F94C89178F}" dt="2026-07-15T14:58:56.128" v="491" actId="14100"/>
          <ac:picMkLst>
            <pc:docMk/>
            <pc:sldMk cId="0" sldId="256"/>
            <ac:picMk id="88" creationId="{786E40AC-E753-42EA-8120-3ED59900CAD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3141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572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7145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25717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42862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51435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0007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009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2019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028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04038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80047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6057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2066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8076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4085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60095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36104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12114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88123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64133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40142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12161520" cy="32004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32004"/>
            <a:ext cx="12161520" cy="1005840"/>
          </a:xfrm>
          <a:prstGeom prst="rect">
            <a:avLst/>
          </a:prstGeom>
          <a:solidFill>
            <a:srgbClr val="0A1525"/>
          </a:solidFill>
          <a:ln w="635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01168" y="201168"/>
            <a:ext cx="2011680" cy="292608"/>
          </a:xfrm>
          <a:prstGeom prst="rect">
            <a:avLst/>
          </a:prstGeom>
          <a:solidFill>
            <a:srgbClr val="06101F"/>
          </a:solidFill>
          <a:ln w="7620">
            <a:solidFill>
              <a:srgbClr val="4A63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01168" y="201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4A6380"/>
                </a:solidFill>
              </a:rPr>
              <a:t>AI UPSKILL · MAY 2026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01168" y="530352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– CHAT BOT OVER DOCUMENTATION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692640" y="274320"/>
            <a:ext cx="2286000" cy="475488"/>
          </a:xfrm>
          <a:prstGeom prst="rect">
            <a:avLst/>
          </a:prstGeom>
          <a:solidFill>
            <a:srgbClr val="06101F"/>
          </a:solidFill>
          <a:ln w="1016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692640" y="274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4A6380"/>
                </a:solidFill>
              </a:rPr>
              <a:t>3-WEEK INITIATIVE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64592" y="1143000"/>
            <a:ext cx="3154680" cy="164592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01752" y="12710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TEAM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01752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01752" y="1545336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WAEL ELQAMASH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00C8E0"/>
                </a:solidFill>
              </a:rPr>
              <a:t>.NET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64592" y="2926080"/>
            <a:ext cx="3154680" cy="178308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01752" y="305409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TECH STACK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1752" y="325526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83464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83464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.NET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298448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298448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Postgres + </a:t>
            </a:r>
            <a:r>
              <a:rPr lang="en-US" sz="750" dirty="0" err="1">
                <a:solidFill>
                  <a:srgbClr val="A8BFDA"/>
                </a:solidFill>
              </a:rPr>
              <a:t>pgvector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313432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313432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pgAdmin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83464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83464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Codemie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298448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298448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Codemie-claude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313432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13432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SpecKit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83464" y="4005072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83464" y="40050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React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64592" y="4846320"/>
            <a:ext cx="3154680" cy="170992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01752" y="497433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BUSINESS CHALLENGES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01752" y="517550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01752" y="5248656"/>
            <a:ext cx="2880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  <a:buSzPct val="100000"/>
            </a:pPr>
            <a:r>
              <a:rPr lang="en-US" sz="900" dirty="0">
                <a:solidFill>
                  <a:srgbClr val="A8BFDA"/>
                </a:solidFill>
              </a:rPr>
              <a:t>Customers shopping on an e-commerce platform frequently need quick answers that today require digging through multiple places: a "My Orders" page, a help center full of policy articles, and sometimes a support ticket queue.</a:t>
            </a:r>
          </a:p>
          <a:p>
            <a:pPr>
              <a:lnSpc>
                <a:spcPct val="150000"/>
              </a:lnSpc>
              <a:buSzPct val="100000"/>
            </a:pP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483864" y="1143000"/>
            <a:ext cx="4892040" cy="96012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621024" y="127101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INTRODUCTION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621024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3621024" y="154533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A8BFDA"/>
                </a:solidFill>
              </a:rPr>
              <a:t>An AI chat assistant that gives e-commerce customers instant, accurate answers about their orders, deliveries, and policies by combining live order lookup with semantic search over policy/product docs — grounding every answer in real data and escalating to a human when it can't confidently resolve a request.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483864" y="2240280"/>
            <a:ext cx="4892040" cy="431596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21024" y="236829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SOLUTION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621024" y="256946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648456" y="2642616"/>
            <a:ext cx="4562856" cy="2057400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3648456" y="2642616"/>
            <a:ext cx="456285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6380"/>
                </a:solidFill>
              </a:rPr>
              <a:t>[ Architecture Diagram ]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648456" y="4837176"/>
            <a:ext cx="4562856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648456" y="4892040"/>
            <a:ext cx="4562856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900" dirty="0">
                <a:solidFill>
                  <a:srgbClr val="A8BFDA"/>
                </a:solidFill>
              </a:rPr>
              <a:t>Solution: Tech Stack &amp; Architecture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Stack: .NET 10 + EF Core, React 19/Vite, PostgreSQL 17 + </a:t>
            </a:r>
            <a:r>
              <a:rPr lang="en-US" sz="900" dirty="0" err="1">
                <a:solidFill>
                  <a:srgbClr val="A8BFDA"/>
                </a:solidFill>
              </a:rPr>
              <a:t>pgvector</a:t>
            </a:r>
            <a:r>
              <a:rPr lang="en-US" sz="900" dirty="0">
                <a:solidFill>
                  <a:srgbClr val="A8BFDA"/>
                </a:solidFill>
              </a:rPr>
              <a:t>, </a:t>
            </a:r>
            <a:r>
              <a:rPr lang="en-US" sz="900" dirty="0" err="1">
                <a:solidFill>
                  <a:srgbClr val="A8BFDA"/>
                </a:solidFill>
              </a:rPr>
              <a:t>CodeMie</a:t>
            </a:r>
            <a:r>
              <a:rPr lang="en-US" sz="900" dirty="0">
                <a:solidFill>
                  <a:srgbClr val="A8BFDA"/>
                </a:solidFill>
              </a:rPr>
              <a:t> gateway → Claude Sonnet 5 + Voyage-2 embeddings, in a layered architecture with a </a:t>
            </a:r>
            <a:r>
              <a:rPr lang="en-US" sz="900" dirty="0" err="1">
                <a:solidFill>
                  <a:srgbClr val="A8BFDA"/>
                </a:solidFill>
              </a:rPr>
              <a:t>ReAct</a:t>
            </a:r>
            <a:r>
              <a:rPr lang="en-US" sz="900" dirty="0">
                <a:solidFill>
                  <a:srgbClr val="A8BFDA"/>
                </a:solidFill>
              </a:rPr>
              <a:t> agent loop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- Integration: 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- Design decisions: vector + relational data live in one Postgres schema (</a:t>
            </a:r>
            <a:r>
              <a:rPr lang="en-US" sz="900" dirty="0" err="1">
                <a:solidFill>
                  <a:srgbClr val="A8BFDA"/>
                </a:solidFill>
              </a:rPr>
              <a:t>pgvector</a:t>
            </a:r>
            <a:r>
              <a:rPr lang="en-US" sz="900" dirty="0">
                <a:solidFill>
                  <a:srgbClr val="A8BFDA"/>
                </a:solidFill>
              </a:rPr>
              <a:t>) rather than a separate vector store. Using </a:t>
            </a:r>
            <a:r>
              <a:rPr lang="en-US" sz="900" dirty="0" err="1">
                <a:solidFill>
                  <a:srgbClr val="A8BFDA"/>
                </a:solidFill>
              </a:rPr>
              <a:t>Codemie</a:t>
            </a:r>
            <a:r>
              <a:rPr lang="en-US" sz="900" dirty="0">
                <a:solidFill>
                  <a:srgbClr val="A8BFDA"/>
                </a:solidFill>
              </a:rPr>
              <a:t> to facilitate working with </a:t>
            </a:r>
            <a:r>
              <a:rPr lang="en-US" sz="900" dirty="0" err="1">
                <a:solidFill>
                  <a:srgbClr val="A8BFDA"/>
                </a:solidFill>
              </a:rPr>
              <a:t>speckit</a:t>
            </a:r>
            <a:r>
              <a:rPr lang="en-US" sz="900" dirty="0">
                <a:solidFill>
                  <a:srgbClr val="A8BFDA"/>
                </a:solidFill>
              </a:rPr>
              <a:t> and Claude sonnet and get use of EPAM API key provided to employees.  React for light chat widget.</a:t>
            </a:r>
          </a:p>
        </p:txBody>
      </p:sp>
      <p:sp>
        <p:nvSpPr>
          <p:cNvPr id="67" name="Shape 65"/>
          <p:cNvSpPr/>
          <p:nvPr/>
        </p:nvSpPr>
        <p:spPr>
          <a:xfrm>
            <a:off x="8540496" y="1143000"/>
            <a:ext cx="3456432" cy="541324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8677656" y="1271016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OTHERS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677656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677656" y="1600200"/>
            <a:ext cx="36576" cy="1143000"/>
          </a:xfrm>
          <a:prstGeom prst="rect">
            <a:avLst/>
          </a:prstGeom>
          <a:solidFill>
            <a:srgbClr val="6B28E0"/>
          </a:solidFill>
          <a:ln w="12700">
            <a:solidFill>
              <a:srgbClr val="6B2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8796528" y="169164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IMPACT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8796528" y="191109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Add your notes here about what was achieved, learned, or planned next.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677656" y="283464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8677656" y="2926080"/>
            <a:ext cx="36576" cy="11430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8796528" y="301752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LEARNINGS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8796528" y="323697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Add your notes here about what was achieved, learned, or planned next.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677656" y="416052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8677656" y="4251960"/>
            <a:ext cx="36576" cy="11430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8796528" y="434340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NEXT STEPS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8796528" y="456285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Add your notes here about what was achieved, learned, or planned next.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8677656" y="562356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8796528" y="5742432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ADDITIONAL NOTES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8796528" y="5980176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4A6380"/>
                </a:solidFill>
              </a:rPr>
              <a:t>Any links, resources, or context relevant to the project.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A1525"/>
          </a:solidFill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201168" y="66111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4A6380"/>
                </a:solidFill>
              </a:rPr>
              <a:t>.NET AI UPSKILL INITIATIVE — July 2026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9966960" y="66111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kern="0" spc="150" dirty="0">
                <a:solidFill>
                  <a:srgbClr val="4A6380"/>
                </a:solidFill>
              </a:rPr>
              <a:t>CONFIDENTIAL</a:t>
            </a:r>
            <a:endParaRPr lang="en-US" sz="700" dirty="0"/>
          </a:p>
        </p:txBody>
      </p:sp>
      <p:pic>
        <p:nvPicPr>
          <p:cNvPr id="88" name="Picture 87">
            <a:extLst>
              <a:ext uri="{FF2B5EF4-FFF2-40B4-BE49-F238E27FC236}">
                <a16:creationId xmlns:a16="http://schemas.microsoft.com/office/drawing/2014/main" id="{786E40AC-E753-42EA-8120-3ED59900C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8743" y="2664494"/>
            <a:ext cx="4537710" cy="20238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</TotalTime>
  <Words>302</Words>
  <Application>Microsoft Office PowerPoint</Application>
  <PresentationFormat>Widescreen</PresentationFormat>
  <Paragraphs>36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Wael El-Qamash</cp:lastModifiedBy>
  <cp:revision>2</cp:revision>
  <dcterms:created xsi:type="dcterms:W3CDTF">2026-04-23T17:39:49Z</dcterms:created>
  <dcterms:modified xsi:type="dcterms:W3CDTF">2026-07-15T14:58:57Z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535040-0af2-483f-adc3-a132c21e3e2b_Enabled">
    <vt:lpwstr>true</vt:lpwstr>
  </property>
  <property fmtid="{D5CDD505-2E9C-101B-9397-08002B2CF9AE}" pid="3" name="MSIP_Label_2a535040-0af2-483f-adc3-a132c21e3e2b_SetDate">
    <vt:lpwstr>2026-04-23T18:24:49Z</vt:lpwstr>
  </property>
  <property fmtid="{D5CDD505-2E9C-101B-9397-08002B2CF9AE}" pid="4" name="MSIP_Label_2a535040-0af2-483f-adc3-a132c21e3e2b_Method">
    <vt:lpwstr>Standard</vt:lpwstr>
  </property>
  <property fmtid="{D5CDD505-2E9C-101B-9397-08002B2CF9AE}" pid="5" name="MSIP_Label_2a535040-0af2-483f-adc3-a132c21e3e2b_Name">
    <vt:lpwstr>EPAM_Confidential</vt:lpwstr>
  </property>
  <property fmtid="{D5CDD505-2E9C-101B-9397-08002B2CF9AE}" pid="6" name="MSIP_Label_2a535040-0af2-483f-adc3-a132c21e3e2b_SiteId">
    <vt:lpwstr>b41b72d0-4e9f-4c26-8a69-f949f367c91d</vt:lpwstr>
  </property>
  <property fmtid="{D5CDD505-2E9C-101B-9397-08002B2CF9AE}" pid="7" name="MSIP_Label_2a535040-0af2-483f-adc3-a132c21e3e2b_ActionId">
    <vt:lpwstr>8989d48e-950a-4fe5-ab54-11814b72000a</vt:lpwstr>
  </property>
  <property fmtid="{D5CDD505-2E9C-101B-9397-08002B2CF9AE}" pid="8" name="MSIP_Label_2a535040-0af2-483f-adc3-a132c21e3e2b_ContentBits">
    <vt:lpwstr>0</vt:lpwstr>
  </property>
  <property fmtid="{D5CDD505-2E9C-101B-9397-08002B2CF9AE}" pid="9" name="MSIP_Label_2a535040-0af2-483f-adc3-a132c21e3e2b_Tag">
    <vt:lpwstr>10, 3, 0, 1</vt:lpwstr>
  </property>
</Properties>
</file>