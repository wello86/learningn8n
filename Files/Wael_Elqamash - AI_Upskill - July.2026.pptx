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64F21E-026A-45B9-8D54-95CAB631EA77}" v="9" dt="2026-07-15T15:28:50.7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-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el El-Qamash" userId="dcf6721a-495b-4910-9497-6e783eafd4a4" providerId="ADAL" clId="{77E9CEDD-FC04-478F-B5E0-81F94C89178F}"/>
    <pc:docChg chg="undo custSel modSld">
      <pc:chgData name="Wael El-Qamash" userId="dcf6721a-495b-4910-9497-6e783eafd4a4" providerId="ADAL" clId="{77E9CEDD-FC04-478F-B5E0-81F94C89178F}" dt="2026-07-15T15:33:47.936" v="534" actId="20577"/>
      <pc:docMkLst>
        <pc:docMk/>
      </pc:docMkLst>
      <pc:sldChg chg="addSp delSp modSp mod">
        <pc:chgData name="Wael El-Qamash" userId="dcf6721a-495b-4910-9497-6e783eafd4a4" providerId="ADAL" clId="{77E9CEDD-FC04-478F-B5E0-81F94C89178F}" dt="2026-07-15T15:33:47.936" v="534" actId="20577"/>
        <pc:sldMkLst>
          <pc:docMk/>
          <pc:sldMk cId="0" sldId="256"/>
        </pc:sldMkLst>
        <pc:spChg chg="mod">
          <ac:chgData name="Wael El-Qamash" userId="dcf6721a-495b-4910-9497-6e783eafd4a4" providerId="ADAL" clId="{77E9CEDD-FC04-478F-B5E0-81F94C89178F}" dt="2026-07-15T15:33:28.387" v="503" actId="20577"/>
          <ac:spMkLst>
            <pc:docMk/>
            <pc:sldMk cId="0" sldId="256"/>
            <ac:spMk id="27" creationId="{00000000-0000-0000-0000-000000000000}"/>
          </ac:spMkLst>
        </pc:spChg>
        <pc:spChg chg="mod">
          <ac:chgData name="Wael El-Qamash" userId="dcf6721a-495b-4910-9497-6e783eafd4a4" providerId="ADAL" clId="{77E9CEDD-FC04-478F-B5E0-81F94C89178F}" dt="2026-07-15T15:33:47.936" v="534" actId="20577"/>
          <ac:spMkLst>
            <pc:docMk/>
            <pc:sldMk cId="0" sldId="256"/>
            <ac:spMk id="28" creationId="{00000000-0000-0000-0000-000000000000}"/>
          </ac:spMkLst>
        </pc:spChg>
        <pc:spChg chg="mod">
          <ac:chgData name="Wael El-Qamash" userId="dcf6721a-495b-4910-9497-6e783eafd4a4" providerId="ADAL" clId="{77E9CEDD-FC04-478F-B5E0-81F94C89178F}" dt="2026-07-15T12:56:51.350" v="142" actId="20577"/>
          <ac:spMkLst>
            <pc:docMk/>
            <pc:sldMk cId="0" sldId="256"/>
            <ac:spMk id="34" creationId="{00000000-0000-0000-0000-000000000000}"/>
          </ac:spMkLst>
        </pc:spChg>
        <pc:spChg chg="mod">
          <ac:chgData name="Wael El-Qamash" userId="dcf6721a-495b-4910-9497-6e783eafd4a4" providerId="ADAL" clId="{77E9CEDD-FC04-478F-B5E0-81F94C89178F}" dt="2026-07-15T12:01:37.099" v="47" actId="20577"/>
          <ac:spMkLst>
            <pc:docMk/>
            <pc:sldMk cId="0" sldId="256"/>
            <ac:spMk id="41" creationId="{00000000-0000-0000-0000-000000000000}"/>
          </ac:spMkLst>
        </pc:spChg>
        <pc:spChg chg="mod">
          <ac:chgData name="Wael El-Qamash" userId="dcf6721a-495b-4910-9497-6e783eafd4a4" providerId="ADAL" clId="{77E9CEDD-FC04-478F-B5E0-81F94C89178F}" dt="2026-07-15T12:01:58.702" v="54" actId="20577"/>
          <ac:spMkLst>
            <pc:docMk/>
            <pc:sldMk cId="0" sldId="256"/>
            <ac:spMk id="43" creationId="{00000000-0000-0000-0000-000000000000}"/>
          </ac:spMkLst>
        </pc:spChg>
        <pc:spChg chg="mod">
          <ac:chgData name="Wael El-Qamash" userId="dcf6721a-495b-4910-9497-6e783eafd4a4" providerId="ADAL" clId="{77E9CEDD-FC04-478F-B5E0-81F94C89178F}" dt="2026-07-15T12:02:11.199" v="70" actId="20577"/>
          <ac:spMkLst>
            <pc:docMk/>
            <pc:sldMk cId="0" sldId="256"/>
            <ac:spMk id="45" creationId="{00000000-0000-0000-0000-000000000000}"/>
          </ac:spMkLst>
        </pc:spChg>
        <pc:spChg chg="mod">
          <ac:chgData name="Wael El-Qamash" userId="dcf6721a-495b-4910-9497-6e783eafd4a4" providerId="ADAL" clId="{77E9CEDD-FC04-478F-B5E0-81F94C89178F}" dt="2026-07-15T12:02:26.571" v="97" actId="20577"/>
          <ac:spMkLst>
            <pc:docMk/>
            <pc:sldMk cId="0" sldId="256"/>
            <ac:spMk id="47" creationId="{00000000-0000-0000-0000-000000000000}"/>
          </ac:spMkLst>
        </pc:spChg>
        <pc:spChg chg="mod">
          <ac:chgData name="Wael El-Qamash" userId="dcf6721a-495b-4910-9497-6e783eafd4a4" providerId="ADAL" clId="{77E9CEDD-FC04-478F-B5E0-81F94C89178F}" dt="2026-07-15T12:02:37.472" v="117" actId="20577"/>
          <ac:spMkLst>
            <pc:docMk/>
            <pc:sldMk cId="0" sldId="256"/>
            <ac:spMk id="49" creationId="{00000000-0000-0000-0000-000000000000}"/>
          </ac:spMkLst>
        </pc:spChg>
        <pc:spChg chg="mod">
          <ac:chgData name="Wael El-Qamash" userId="dcf6721a-495b-4910-9497-6e783eafd4a4" providerId="ADAL" clId="{77E9CEDD-FC04-478F-B5E0-81F94C89178F}" dt="2026-07-15T12:28:07.206" v="122" actId="20577"/>
          <ac:spMkLst>
            <pc:docMk/>
            <pc:sldMk cId="0" sldId="256"/>
            <ac:spMk id="51" creationId="{00000000-0000-0000-0000-000000000000}"/>
          </ac:spMkLst>
        </pc:spChg>
        <pc:spChg chg="mod">
          <ac:chgData name="Wael El-Qamash" userId="dcf6721a-495b-4910-9497-6e783eafd4a4" providerId="ADAL" clId="{77E9CEDD-FC04-478F-B5E0-81F94C89178F}" dt="2026-07-15T12:50:26.537" v="127" actId="108"/>
          <ac:spMkLst>
            <pc:docMk/>
            <pc:sldMk cId="0" sldId="256"/>
            <ac:spMk id="55" creationId="{00000000-0000-0000-0000-000000000000}"/>
          </ac:spMkLst>
        </pc:spChg>
        <pc:spChg chg="mod">
          <ac:chgData name="Wael El-Qamash" userId="dcf6721a-495b-4910-9497-6e783eafd4a4" providerId="ADAL" clId="{77E9CEDD-FC04-478F-B5E0-81F94C89178F}" dt="2026-07-15T12:55:25.127" v="129" actId="33524"/>
          <ac:spMkLst>
            <pc:docMk/>
            <pc:sldMk cId="0" sldId="256"/>
            <ac:spMk id="59" creationId="{00000000-0000-0000-0000-000000000000}"/>
          </ac:spMkLst>
        </pc:spChg>
        <pc:spChg chg="mod">
          <ac:chgData name="Wael El-Qamash" userId="dcf6721a-495b-4910-9497-6e783eafd4a4" providerId="ADAL" clId="{77E9CEDD-FC04-478F-B5E0-81F94C89178F}" dt="2026-07-15T13:15:02.222" v="485" actId="20577"/>
          <ac:spMkLst>
            <pc:docMk/>
            <pc:sldMk cId="0" sldId="256"/>
            <ac:spMk id="66" creationId="{00000000-0000-0000-0000-000000000000}"/>
          </ac:spMkLst>
        </pc:spChg>
        <pc:spChg chg="mod">
          <ac:chgData name="Wael El-Qamash" userId="dcf6721a-495b-4910-9497-6e783eafd4a4" providerId="ADAL" clId="{77E9CEDD-FC04-478F-B5E0-81F94C89178F}" dt="2026-07-15T12:57:06.605" v="146" actId="20577"/>
          <ac:spMkLst>
            <pc:docMk/>
            <pc:sldMk cId="0" sldId="256"/>
            <ac:spMk id="85" creationId="{00000000-0000-0000-0000-000000000000}"/>
          </ac:spMkLst>
        </pc:spChg>
        <pc:spChg chg="add mod">
          <ac:chgData name="Wael El-Qamash" userId="dcf6721a-495b-4910-9497-6e783eafd4a4" providerId="ADAL" clId="{77E9CEDD-FC04-478F-B5E0-81F94C89178F}" dt="2026-07-15T15:28:50.759" v="499"/>
          <ac:spMkLst>
            <pc:docMk/>
            <pc:sldMk cId="0" sldId="256"/>
            <ac:spMk id="91" creationId="{8FD6C67B-7E78-E7FA-2205-21A266E48F70}"/>
          </ac:spMkLst>
        </pc:spChg>
        <pc:picChg chg="add del mod">
          <ac:chgData name="Wael El-Qamash" userId="dcf6721a-495b-4910-9497-6e783eafd4a4" providerId="ADAL" clId="{77E9CEDD-FC04-478F-B5E0-81F94C89178F}" dt="2026-07-15T15:28:26.151" v="492" actId="478"/>
          <ac:picMkLst>
            <pc:docMk/>
            <pc:sldMk cId="0" sldId="256"/>
            <ac:picMk id="88" creationId="{786E40AC-E753-42EA-8120-3ED59900CAD9}"/>
          </ac:picMkLst>
        </pc:picChg>
        <pc:picChg chg="add mod">
          <ac:chgData name="Wael El-Qamash" userId="dcf6721a-495b-4910-9497-6e783eafd4a4" providerId="ADAL" clId="{77E9CEDD-FC04-478F-B5E0-81F94C89178F}" dt="2026-07-15T15:28:47.545" v="497" actId="14100"/>
          <ac:picMkLst>
            <pc:docMk/>
            <pc:sldMk cId="0" sldId="256"/>
            <ac:picMk id="90" creationId="{604BF389-A5D7-40B8-DDCD-DDE5F981F31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3141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57250"/>
            <a:ext cx="12161520" cy="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714500"/>
            <a:ext cx="12161520" cy="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2571750"/>
            <a:ext cx="12161520" cy="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3429000"/>
            <a:ext cx="12161520" cy="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4286250"/>
            <a:ext cx="12161520" cy="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5143500"/>
            <a:ext cx="12161520" cy="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6000750"/>
            <a:ext cx="12161520" cy="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60095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520190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280285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040380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800475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60570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320665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840855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600950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361045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121140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881235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0641330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401425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0" y="0"/>
            <a:ext cx="12161520" cy="32004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0" y="32004"/>
            <a:ext cx="12161520" cy="1005840"/>
          </a:xfrm>
          <a:prstGeom prst="rect">
            <a:avLst/>
          </a:prstGeom>
          <a:solidFill>
            <a:srgbClr val="0A1525"/>
          </a:solidFill>
          <a:ln w="635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01168" y="201168"/>
            <a:ext cx="2011680" cy="292608"/>
          </a:xfrm>
          <a:prstGeom prst="rect">
            <a:avLst/>
          </a:prstGeom>
          <a:solidFill>
            <a:srgbClr val="06101F"/>
          </a:solidFill>
          <a:ln w="7620">
            <a:solidFill>
              <a:srgbClr val="4A63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01168" y="201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200" dirty="0">
                <a:solidFill>
                  <a:srgbClr val="4A6380"/>
                </a:solidFill>
              </a:rPr>
              <a:t>AI UPSKILL · July 2026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01168" y="530352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Shopping Assistant </a:t>
            </a: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Bot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9692640" y="274320"/>
            <a:ext cx="2286000" cy="475488"/>
          </a:xfrm>
          <a:prstGeom prst="rect">
            <a:avLst/>
          </a:prstGeom>
          <a:solidFill>
            <a:srgbClr val="06101F"/>
          </a:solidFill>
          <a:ln w="1016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692640" y="27432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4A6380"/>
                </a:solidFill>
              </a:rPr>
              <a:t>3-WEEK INITIATIVE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64592" y="1143000"/>
            <a:ext cx="3154680" cy="1645920"/>
          </a:xfrm>
          <a:prstGeom prst="rect">
            <a:avLst/>
          </a:prstGeom>
          <a:solidFill>
            <a:srgbClr val="0C1B30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01752" y="1271016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250" dirty="0">
                <a:solidFill>
                  <a:srgbClr val="4A6380"/>
                </a:solidFill>
              </a:rPr>
              <a:t>TEAM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01752" y="1472184"/>
            <a:ext cx="548640" cy="0"/>
          </a:xfrm>
          <a:prstGeom prst="line">
            <a:avLst/>
          </a:prstGeom>
          <a:noFill/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01752" y="1545336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WAEL ELQAMASH</a:t>
            </a:r>
            <a:endParaRPr lang="en-US" sz="1100" dirty="0"/>
          </a:p>
          <a:p>
            <a:pPr marL="0" indent="0">
              <a:buNone/>
            </a:pPr>
            <a:r>
              <a:rPr lang="en-US" sz="850" dirty="0">
                <a:solidFill>
                  <a:srgbClr val="00C8E0"/>
                </a:solidFill>
              </a:rPr>
              <a:t>.NET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64592" y="2926080"/>
            <a:ext cx="3154680" cy="1783080"/>
          </a:xfrm>
          <a:prstGeom prst="rect">
            <a:avLst/>
          </a:prstGeom>
          <a:solidFill>
            <a:srgbClr val="0C1B30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01752" y="3054096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250" dirty="0">
                <a:solidFill>
                  <a:srgbClr val="4A6380"/>
                </a:solidFill>
              </a:rPr>
              <a:t>TECH STACK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01752" y="3255264"/>
            <a:ext cx="548640" cy="0"/>
          </a:xfrm>
          <a:prstGeom prst="line">
            <a:avLst/>
          </a:prstGeom>
          <a:noFill/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83464" y="3346704"/>
            <a:ext cx="914400" cy="246888"/>
          </a:xfrm>
          <a:prstGeom prst="rect">
            <a:avLst/>
          </a:prstGeom>
          <a:solidFill>
            <a:srgbClr val="06101F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83464" y="334670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BFDA"/>
                </a:solidFill>
              </a:rPr>
              <a:t>.NET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1298448" y="3346704"/>
            <a:ext cx="914400" cy="246888"/>
          </a:xfrm>
          <a:prstGeom prst="rect">
            <a:avLst/>
          </a:prstGeom>
          <a:solidFill>
            <a:srgbClr val="06101F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298448" y="334670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BFDA"/>
                </a:solidFill>
              </a:rPr>
              <a:t>Postgres + </a:t>
            </a:r>
            <a:r>
              <a:rPr lang="en-US" sz="750" dirty="0" err="1">
                <a:solidFill>
                  <a:srgbClr val="A8BFDA"/>
                </a:solidFill>
              </a:rPr>
              <a:t>pgvector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313432" y="3346704"/>
            <a:ext cx="914400" cy="246888"/>
          </a:xfrm>
          <a:prstGeom prst="rect">
            <a:avLst/>
          </a:prstGeom>
          <a:solidFill>
            <a:srgbClr val="06101F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313432" y="334670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 err="1">
                <a:solidFill>
                  <a:srgbClr val="A8BFDA"/>
                </a:solidFill>
              </a:rPr>
              <a:t>pgAdmin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83464" y="3675888"/>
            <a:ext cx="914400" cy="246888"/>
          </a:xfrm>
          <a:prstGeom prst="rect">
            <a:avLst/>
          </a:prstGeom>
          <a:solidFill>
            <a:srgbClr val="06101F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83464" y="367588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 err="1">
                <a:solidFill>
                  <a:srgbClr val="A8BFDA"/>
                </a:solidFill>
              </a:rPr>
              <a:t>Codemie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1298448" y="3675888"/>
            <a:ext cx="914400" cy="246888"/>
          </a:xfrm>
          <a:prstGeom prst="rect">
            <a:avLst/>
          </a:prstGeom>
          <a:solidFill>
            <a:srgbClr val="06101F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298448" y="367588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 err="1">
                <a:solidFill>
                  <a:srgbClr val="A8BFDA"/>
                </a:solidFill>
              </a:rPr>
              <a:t>Codemie-claude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313432" y="3675888"/>
            <a:ext cx="914400" cy="246888"/>
          </a:xfrm>
          <a:prstGeom prst="rect">
            <a:avLst/>
          </a:prstGeom>
          <a:solidFill>
            <a:srgbClr val="06101F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2313432" y="367588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 err="1">
                <a:solidFill>
                  <a:srgbClr val="A8BFDA"/>
                </a:solidFill>
              </a:rPr>
              <a:t>SpecKit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83464" y="4005072"/>
            <a:ext cx="914400" cy="246888"/>
          </a:xfrm>
          <a:prstGeom prst="rect">
            <a:avLst/>
          </a:prstGeom>
          <a:solidFill>
            <a:srgbClr val="06101F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283464" y="400507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BFDA"/>
                </a:solidFill>
              </a:rPr>
              <a:t>React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164592" y="4846320"/>
            <a:ext cx="3154680" cy="1709928"/>
          </a:xfrm>
          <a:prstGeom prst="rect">
            <a:avLst/>
          </a:prstGeom>
          <a:solidFill>
            <a:srgbClr val="0C1B30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301752" y="4974336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250" dirty="0">
                <a:solidFill>
                  <a:srgbClr val="4A6380"/>
                </a:solidFill>
              </a:rPr>
              <a:t>BUSINESS CHALLENGES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301752" y="5175504"/>
            <a:ext cx="548640" cy="0"/>
          </a:xfrm>
          <a:prstGeom prst="line">
            <a:avLst/>
          </a:prstGeom>
          <a:noFill/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301752" y="5248656"/>
            <a:ext cx="288036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  <a:buSzPct val="100000"/>
            </a:pPr>
            <a:r>
              <a:rPr lang="en-US" sz="900" dirty="0">
                <a:solidFill>
                  <a:srgbClr val="A8BFDA"/>
                </a:solidFill>
              </a:rPr>
              <a:t>Customers shopping on an e-commerce platform frequently need quick answers that today require digging through multiple places: a "My Orders" page, a help center full of policy articles, and sometimes a support ticket queue.</a:t>
            </a:r>
          </a:p>
          <a:p>
            <a:pPr>
              <a:lnSpc>
                <a:spcPct val="150000"/>
              </a:lnSpc>
              <a:buSzPct val="100000"/>
            </a:pP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3483864" y="1143000"/>
            <a:ext cx="4892040" cy="960120"/>
          </a:xfrm>
          <a:prstGeom prst="rect">
            <a:avLst/>
          </a:prstGeom>
          <a:solidFill>
            <a:srgbClr val="0C1B30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3621024" y="1271016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250" dirty="0">
                <a:solidFill>
                  <a:srgbClr val="4A6380"/>
                </a:solidFill>
              </a:rPr>
              <a:t>INTRODUCTION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3621024" y="1472184"/>
            <a:ext cx="548640" cy="0"/>
          </a:xfrm>
          <a:prstGeom prst="line">
            <a:avLst/>
          </a:prstGeom>
          <a:noFill/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3621024" y="1545336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 dirty="0">
                <a:solidFill>
                  <a:srgbClr val="A8BFDA"/>
                </a:solidFill>
              </a:rPr>
              <a:t>An AI chat assistant that gives e-commerce customers instant, accurate answers about their orders, deliveries, and policies by combining live order lookup with semantic search over policy/product docs — grounding every answer in real data and escalating to a human when it can't confidently resolve a request.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483864" y="2240280"/>
            <a:ext cx="4892040" cy="4315968"/>
          </a:xfrm>
          <a:prstGeom prst="rect">
            <a:avLst/>
          </a:prstGeom>
          <a:solidFill>
            <a:srgbClr val="0C1B30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3621024" y="2368296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250" dirty="0">
                <a:solidFill>
                  <a:srgbClr val="4A6380"/>
                </a:solidFill>
              </a:rPr>
              <a:t>SOLUTION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3621024" y="2569464"/>
            <a:ext cx="548640" cy="0"/>
          </a:xfrm>
          <a:prstGeom prst="line">
            <a:avLst/>
          </a:prstGeom>
          <a:noFill/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3648456" y="2642616"/>
            <a:ext cx="4562856" cy="2057400"/>
          </a:xfrm>
          <a:prstGeom prst="rect">
            <a:avLst/>
          </a:prstGeom>
          <a:solidFill>
            <a:srgbClr val="06101F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3648456" y="2642616"/>
            <a:ext cx="456285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6380"/>
                </a:solidFill>
              </a:rPr>
              <a:t>[ Architecture Diagram ]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3648456" y="4837176"/>
            <a:ext cx="4562856" cy="0"/>
          </a:xfrm>
          <a:prstGeom prst="line">
            <a:avLst/>
          </a:prstGeom>
          <a:noFill/>
          <a:ln w="508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3648456" y="4892040"/>
            <a:ext cx="4562856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n-US" sz="900" dirty="0">
                <a:solidFill>
                  <a:srgbClr val="A8BFDA"/>
                </a:solidFill>
              </a:rPr>
              <a:t>Solution: Tech Stack &amp; Architecture</a:t>
            </a:r>
          </a:p>
          <a:p>
            <a:pPr marL="171450" indent="-171450">
              <a:lnSpc>
                <a:spcPct val="145000"/>
              </a:lnSpc>
              <a:buFontTx/>
              <a:buChar char="-"/>
            </a:pPr>
            <a:r>
              <a:rPr lang="en-US" sz="900" dirty="0">
                <a:solidFill>
                  <a:srgbClr val="A8BFDA"/>
                </a:solidFill>
              </a:rPr>
              <a:t>Stack: .NET 10 + EF Core, React 19/Vite, PostgreSQL 17 + </a:t>
            </a:r>
            <a:r>
              <a:rPr lang="en-US" sz="900" dirty="0" err="1">
                <a:solidFill>
                  <a:srgbClr val="A8BFDA"/>
                </a:solidFill>
              </a:rPr>
              <a:t>pgvector</a:t>
            </a:r>
            <a:r>
              <a:rPr lang="en-US" sz="900" dirty="0">
                <a:solidFill>
                  <a:srgbClr val="A8BFDA"/>
                </a:solidFill>
              </a:rPr>
              <a:t>, </a:t>
            </a:r>
            <a:r>
              <a:rPr lang="en-US" sz="900" dirty="0" err="1">
                <a:solidFill>
                  <a:srgbClr val="A8BFDA"/>
                </a:solidFill>
              </a:rPr>
              <a:t>CodeMie</a:t>
            </a:r>
            <a:r>
              <a:rPr lang="en-US" sz="900" dirty="0">
                <a:solidFill>
                  <a:srgbClr val="A8BFDA"/>
                </a:solidFill>
              </a:rPr>
              <a:t> gateway → Claude Sonnet 5 + Voyage-2 embeddings, in a layered architecture with a </a:t>
            </a:r>
            <a:r>
              <a:rPr lang="en-US" sz="900" dirty="0" err="1">
                <a:solidFill>
                  <a:srgbClr val="A8BFDA"/>
                </a:solidFill>
              </a:rPr>
              <a:t>ReAct</a:t>
            </a:r>
            <a:r>
              <a:rPr lang="en-US" sz="900" dirty="0">
                <a:solidFill>
                  <a:srgbClr val="A8BFDA"/>
                </a:solidFill>
              </a:rPr>
              <a:t> agent loop</a:t>
            </a:r>
          </a:p>
          <a:p>
            <a:pPr marL="171450" indent="-171450">
              <a:lnSpc>
                <a:spcPct val="145000"/>
              </a:lnSpc>
              <a:buFontTx/>
              <a:buChar char="-"/>
            </a:pPr>
            <a:r>
              <a:rPr lang="en-US" sz="900" dirty="0">
                <a:solidFill>
                  <a:srgbClr val="A8BFDA"/>
                </a:solidFill>
              </a:rPr>
              <a:t>- Integration: </a:t>
            </a:r>
          </a:p>
          <a:p>
            <a:pPr marL="171450" indent="-171450">
              <a:lnSpc>
                <a:spcPct val="145000"/>
              </a:lnSpc>
              <a:buFontTx/>
              <a:buChar char="-"/>
            </a:pPr>
            <a:r>
              <a:rPr lang="en-US" sz="900" dirty="0">
                <a:solidFill>
                  <a:srgbClr val="A8BFDA"/>
                </a:solidFill>
              </a:rPr>
              <a:t>- Design decisions: vector + relational data live in one Postgres schema (</a:t>
            </a:r>
            <a:r>
              <a:rPr lang="en-US" sz="900" dirty="0" err="1">
                <a:solidFill>
                  <a:srgbClr val="A8BFDA"/>
                </a:solidFill>
              </a:rPr>
              <a:t>pgvector</a:t>
            </a:r>
            <a:r>
              <a:rPr lang="en-US" sz="900" dirty="0">
                <a:solidFill>
                  <a:srgbClr val="A8BFDA"/>
                </a:solidFill>
              </a:rPr>
              <a:t>) rather than a separate vector store. Using </a:t>
            </a:r>
            <a:r>
              <a:rPr lang="en-US" sz="900" dirty="0" err="1">
                <a:solidFill>
                  <a:srgbClr val="A8BFDA"/>
                </a:solidFill>
              </a:rPr>
              <a:t>Codemie</a:t>
            </a:r>
            <a:r>
              <a:rPr lang="en-US" sz="900" dirty="0">
                <a:solidFill>
                  <a:srgbClr val="A8BFDA"/>
                </a:solidFill>
              </a:rPr>
              <a:t> to facilitate working with </a:t>
            </a:r>
            <a:r>
              <a:rPr lang="en-US" sz="900" dirty="0" err="1">
                <a:solidFill>
                  <a:srgbClr val="A8BFDA"/>
                </a:solidFill>
              </a:rPr>
              <a:t>speckit</a:t>
            </a:r>
            <a:r>
              <a:rPr lang="en-US" sz="900" dirty="0">
                <a:solidFill>
                  <a:srgbClr val="A8BFDA"/>
                </a:solidFill>
              </a:rPr>
              <a:t> and Claude sonnet and get use of EPAM API key provided to employees.  React for light chat widget.</a:t>
            </a:r>
          </a:p>
        </p:txBody>
      </p:sp>
      <p:sp>
        <p:nvSpPr>
          <p:cNvPr id="67" name="Shape 65"/>
          <p:cNvSpPr/>
          <p:nvPr/>
        </p:nvSpPr>
        <p:spPr>
          <a:xfrm>
            <a:off x="8540496" y="1143000"/>
            <a:ext cx="3456432" cy="5413248"/>
          </a:xfrm>
          <a:prstGeom prst="rect">
            <a:avLst/>
          </a:prstGeom>
          <a:solidFill>
            <a:srgbClr val="0C1B30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8677656" y="1271016"/>
            <a:ext cx="3182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250" dirty="0">
                <a:solidFill>
                  <a:srgbClr val="4A6380"/>
                </a:solidFill>
              </a:rPr>
              <a:t>OTHERS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8677656" y="1472184"/>
            <a:ext cx="548640" cy="0"/>
          </a:xfrm>
          <a:prstGeom prst="line">
            <a:avLst/>
          </a:prstGeom>
          <a:noFill/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8677656" y="1600200"/>
            <a:ext cx="36576" cy="1143000"/>
          </a:xfrm>
          <a:prstGeom prst="rect">
            <a:avLst/>
          </a:prstGeom>
          <a:solidFill>
            <a:srgbClr val="6B28E0"/>
          </a:solidFill>
          <a:ln w="12700">
            <a:solidFill>
              <a:srgbClr val="6B2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8796528" y="1691640"/>
            <a:ext cx="3044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4A6380"/>
                </a:solidFill>
              </a:rPr>
              <a:t>IMPACT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8796528" y="1911096"/>
            <a:ext cx="304495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A8BFDA"/>
                </a:solidFill>
              </a:rPr>
              <a:t>Add your notes here about what was achieved, learned, or planned next.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8677656" y="2834640"/>
            <a:ext cx="3182112" cy="0"/>
          </a:xfrm>
          <a:prstGeom prst="line">
            <a:avLst/>
          </a:prstGeom>
          <a:noFill/>
          <a:ln w="508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8677656" y="2926080"/>
            <a:ext cx="36576" cy="114300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8796528" y="3017520"/>
            <a:ext cx="3044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4A6380"/>
                </a:solidFill>
              </a:rPr>
              <a:t>LEARNINGS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8796528" y="3236976"/>
            <a:ext cx="304495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A8BFDA"/>
                </a:solidFill>
              </a:rPr>
              <a:t>Add your notes here about what was achieved, learned, or planned next.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8677656" y="4160520"/>
            <a:ext cx="3182112" cy="0"/>
          </a:xfrm>
          <a:prstGeom prst="line">
            <a:avLst/>
          </a:prstGeom>
          <a:noFill/>
          <a:ln w="508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8677656" y="4251960"/>
            <a:ext cx="36576" cy="114300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8796528" y="4343400"/>
            <a:ext cx="3044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4A6380"/>
                </a:solidFill>
              </a:rPr>
              <a:t>NEXT STEPS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8796528" y="4562856"/>
            <a:ext cx="304495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A8BFDA"/>
                </a:solidFill>
              </a:rPr>
              <a:t>Add your notes here about what was achieved, learned, or planned next.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8677656" y="5623560"/>
            <a:ext cx="3182112" cy="0"/>
          </a:xfrm>
          <a:prstGeom prst="line">
            <a:avLst/>
          </a:prstGeom>
          <a:noFill/>
          <a:ln w="508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8796528" y="5742432"/>
            <a:ext cx="3044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4A6380"/>
                </a:solidFill>
              </a:rPr>
              <a:t>ADDITIONAL NOTES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8796528" y="5980176"/>
            <a:ext cx="3044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4A6380"/>
                </a:solidFill>
              </a:rPr>
              <a:t>Any links, resources, or context relevant to the project.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A1525"/>
          </a:solidFill>
          <a:ln w="508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201168" y="6611112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50" dirty="0">
                <a:solidFill>
                  <a:srgbClr val="4A6380"/>
                </a:solidFill>
              </a:rPr>
              <a:t>.NET AI UPSKILL INITIATIVE — July 2026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9966960" y="6611112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kern="0" spc="150" dirty="0">
                <a:solidFill>
                  <a:srgbClr val="4A6380"/>
                </a:solidFill>
              </a:rPr>
              <a:t>CONFIDENTIAL</a:t>
            </a:r>
            <a:endParaRPr lang="en-US" sz="700" dirty="0"/>
          </a:p>
        </p:txBody>
      </p:sp>
      <p:pic>
        <p:nvPicPr>
          <p:cNvPr id="90" name="Picture 89">
            <a:extLst>
              <a:ext uri="{FF2B5EF4-FFF2-40B4-BE49-F238E27FC236}">
                <a16:creationId xmlns:a16="http://schemas.microsoft.com/office/drawing/2014/main" id="{604BF389-A5D7-40B8-DDCD-DDE5F981F3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8743" y="2663190"/>
            <a:ext cx="4554283" cy="2057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301</Words>
  <Application>Microsoft Office PowerPoint</Application>
  <PresentationFormat>Widescreen</PresentationFormat>
  <Paragraphs>36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Wael El-Qamash</cp:lastModifiedBy>
  <cp:revision>2</cp:revision>
  <dcterms:created xsi:type="dcterms:W3CDTF">2026-04-23T17:39:49Z</dcterms:created>
  <dcterms:modified xsi:type="dcterms:W3CDTF">2026-07-15T15:33:56Z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535040-0af2-483f-adc3-a132c21e3e2b_Enabled">
    <vt:lpwstr>true</vt:lpwstr>
  </property>
  <property fmtid="{D5CDD505-2E9C-101B-9397-08002B2CF9AE}" pid="3" name="MSIP_Label_2a535040-0af2-483f-adc3-a132c21e3e2b_SetDate">
    <vt:lpwstr>2026-04-23T18:24:49Z</vt:lpwstr>
  </property>
  <property fmtid="{D5CDD505-2E9C-101B-9397-08002B2CF9AE}" pid="4" name="MSIP_Label_2a535040-0af2-483f-adc3-a132c21e3e2b_Method">
    <vt:lpwstr>Standard</vt:lpwstr>
  </property>
  <property fmtid="{D5CDD505-2E9C-101B-9397-08002B2CF9AE}" pid="5" name="MSIP_Label_2a535040-0af2-483f-adc3-a132c21e3e2b_Name">
    <vt:lpwstr>EPAM_Confidential</vt:lpwstr>
  </property>
  <property fmtid="{D5CDD505-2E9C-101B-9397-08002B2CF9AE}" pid="6" name="MSIP_Label_2a535040-0af2-483f-adc3-a132c21e3e2b_SiteId">
    <vt:lpwstr>b41b72d0-4e9f-4c26-8a69-f949f367c91d</vt:lpwstr>
  </property>
  <property fmtid="{D5CDD505-2E9C-101B-9397-08002B2CF9AE}" pid="7" name="MSIP_Label_2a535040-0af2-483f-adc3-a132c21e3e2b_ActionId">
    <vt:lpwstr>8989d48e-950a-4fe5-ab54-11814b72000a</vt:lpwstr>
  </property>
  <property fmtid="{D5CDD505-2E9C-101B-9397-08002B2CF9AE}" pid="8" name="MSIP_Label_2a535040-0af2-483f-adc3-a132c21e3e2b_ContentBits">
    <vt:lpwstr>0</vt:lpwstr>
  </property>
  <property fmtid="{D5CDD505-2E9C-101B-9397-08002B2CF9AE}" pid="9" name="MSIP_Label_2a535040-0af2-483f-adc3-a132c21e3e2b_Tag">
    <vt:lpwstr>10, 3, 0, 1</vt:lpwstr>
  </property>
</Properties>
</file>