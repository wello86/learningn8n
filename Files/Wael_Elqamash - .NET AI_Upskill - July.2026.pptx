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4F21E-026A-45B9-8D54-95CAB631EA77}" v="10" dt="2026-07-16T08:53:55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5" y="-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l El-Qamash" userId="dcf6721a-495b-4910-9497-6e783eafd4a4" providerId="ADAL" clId="{77E9CEDD-FC04-478F-B5E0-81F94C89178F}"/>
    <pc:docChg chg="undo custSel modSld">
      <pc:chgData name="Wael El-Qamash" userId="dcf6721a-495b-4910-9497-6e783eafd4a4" providerId="ADAL" clId="{77E9CEDD-FC04-478F-B5E0-81F94C89178F}" dt="2026-07-16T08:53:55.383" v="847"/>
      <pc:docMkLst>
        <pc:docMk/>
      </pc:docMkLst>
      <pc:sldChg chg="addSp delSp modSp mod">
        <pc:chgData name="Wael El-Qamash" userId="dcf6721a-495b-4910-9497-6e783eafd4a4" providerId="ADAL" clId="{77E9CEDD-FC04-478F-B5E0-81F94C89178F}" dt="2026-07-16T08:53:55.383" v="847"/>
        <pc:sldMkLst>
          <pc:docMk/>
          <pc:sldMk cId="0" sldId="256"/>
        </pc:sldMkLst>
        <pc:spChg chg="mod">
          <ac:chgData name="Wael El-Qamash" userId="dcf6721a-495b-4910-9497-6e783eafd4a4" providerId="ADAL" clId="{77E9CEDD-FC04-478F-B5E0-81F94C89178F}" dt="2026-07-15T15:33:28.387" v="503" actId="20577"/>
          <ac:spMkLst>
            <pc:docMk/>
            <pc:sldMk cId="0" sldId="256"/>
            <ac:spMk id="27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5:33:47.936" v="534" actId="2057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56:51.350" v="142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1:37.099" v="47" actId="20577"/>
          <ac:spMkLst>
            <pc:docMk/>
            <pc:sldMk cId="0" sldId="256"/>
            <ac:spMk id="41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1:58.702" v="54" actId="20577"/>
          <ac:spMkLst>
            <pc:docMk/>
            <pc:sldMk cId="0" sldId="256"/>
            <ac:spMk id="43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2:11.199" v="70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2:26.571" v="97" actId="20577"/>
          <ac:spMkLst>
            <pc:docMk/>
            <pc:sldMk cId="0" sldId="256"/>
            <ac:spMk id="47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2:37.472" v="117" actId="20577"/>
          <ac:spMkLst>
            <pc:docMk/>
            <pc:sldMk cId="0" sldId="256"/>
            <ac:spMk id="49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28:07.206" v="122" actId="20577"/>
          <ac:spMkLst>
            <pc:docMk/>
            <pc:sldMk cId="0" sldId="256"/>
            <ac:spMk id="51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50:26.537" v="127" actId="108"/>
          <ac:spMkLst>
            <pc:docMk/>
            <pc:sldMk cId="0" sldId="256"/>
            <ac:spMk id="55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55:25.127" v="129" actId="33524"/>
          <ac:spMkLst>
            <pc:docMk/>
            <pc:sldMk cId="0" sldId="256"/>
            <ac:spMk id="59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3:15:02.222" v="485" actId="20577"/>
          <ac:spMkLst>
            <pc:docMk/>
            <pc:sldMk cId="0" sldId="256"/>
            <ac:spMk id="66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6T08:53:52.282" v="846" actId="1076"/>
          <ac:spMkLst>
            <pc:docMk/>
            <pc:sldMk cId="0" sldId="256"/>
            <ac:spMk id="67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6T08:15:44.787" v="617" actId="20577"/>
          <ac:spMkLst>
            <pc:docMk/>
            <pc:sldMk cId="0" sldId="256"/>
            <ac:spMk id="72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6T08:53:00.987" v="843" actId="20577"/>
          <ac:spMkLst>
            <pc:docMk/>
            <pc:sldMk cId="0" sldId="256"/>
            <ac:spMk id="76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6T08:26:16.117" v="789" actId="20577"/>
          <ac:spMkLst>
            <pc:docMk/>
            <pc:sldMk cId="0" sldId="256"/>
            <ac:spMk id="80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6T08:53:55.383" v="847"/>
          <ac:spMkLst>
            <pc:docMk/>
            <pc:sldMk cId="0" sldId="256"/>
            <ac:spMk id="83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57:06.605" v="146" actId="20577"/>
          <ac:spMkLst>
            <pc:docMk/>
            <pc:sldMk cId="0" sldId="256"/>
            <ac:spMk id="85" creationId="{00000000-0000-0000-0000-000000000000}"/>
          </ac:spMkLst>
        </pc:spChg>
        <pc:spChg chg="add mod">
          <ac:chgData name="Wael El-Qamash" userId="dcf6721a-495b-4910-9497-6e783eafd4a4" providerId="ADAL" clId="{77E9CEDD-FC04-478F-B5E0-81F94C89178F}" dt="2026-07-15T15:28:50.759" v="499"/>
          <ac:spMkLst>
            <pc:docMk/>
            <pc:sldMk cId="0" sldId="256"/>
            <ac:spMk id="91" creationId="{8FD6C67B-7E78-E7FA-2205-21A266E48F70}"/>
          </ac:spMkLst>
        </pc:spChg>
        <pc:picChg chg="add del mod">
          <ac:chgData name="Wael El-Qamash" userId="dcf6721a-495b-4910-9497-6e783eafd4a4" providerId="ADAL" clId="{77E9CEDD-FC04-478F-B5E0-81F94C89178F}" dt="2026-07-15T15:28:26.151" v="492" actId="478"/>
          <ac:picMkLst>
            <pc:docMk/>
            <pc:sldMk cId="0" sldId="256"/>
            <ac:picMk id="88" creationId="{786E40AC-E753-42EA-8120-3ED59900CAD9}"/>
          </ac:picMkLst>
        </pc:picChg>
        <pc:picChg chg="add mod">
          <ac:chgData name="Wael El-Qamash" userId="dcf6721a-495b-4910-9497-6e783eafd4a4" providerId="ADAL" clId="{77E9CEDD-FC04-478F-B5E0-81F94C89178F}" dt="2026-07-15T15:28:47.545" v="497" actId="14100"/>
          <ac:picMkLst>
            <pc:docMk/>
            <pc:sldMk cId="0" sldId="256"/>
            <ac:picMk id="90" creationId="{604BF389-A5D7-40B8-DDCD-DDE5F981F3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14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571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286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000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009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2019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028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4038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0047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6057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2066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4085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0095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6104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2114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88123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4133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0142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61520" cy="3200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32004"/>
            <a:ext cx="12161520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solidFill>
            <a:srgbClr val="06101F"/>
          </a:solidFill>
          <a:ln w="7620">
            <a:solidFill>
              <a:srgbClr val="4A63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4A6380"/>
                </a:solidFill>
              </a:rPr>
              <a:t>AI UPSKILL · July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1168" y="5303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Shopping Assistant Chat Bot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solidFill>
            <a:srgbClr val="06101F"/>
          </a:solidFill>
          <a:ln w="1016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A6380"/>
                </a:solidFill>
              </a:rPr>
              <a:t>3-WEEK INITIATIVE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" y="1143000"/>
            <a:ext cx="3154680" cy="16459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" y="12710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TEAM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01752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1752" y="154533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WAEL ELQAMASH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</a:rPr>
              <a:t>.NET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" y="2926080"/>
            <a:ext cx="3154680" cy="178308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" y="305409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TECH STACK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1752" y="32552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.NET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Postgres + </a:t>
            </a:r>
            <a:r>
              <a:rPr lang="en-US" sz="750" dirty="0" err="1">
                <a:solidFill>
                  <a:srgbClr val="A8BFDA"/>
                </a:solidFill>
              </a:rPr>
              <a:t>pgvector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8BFDA"/>
                </a:solidFill>
              </a:rPr>
              <a:t>pgAdmin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8BFDA"/>
                </a:solidFill>
              </a:rPr>
              <a:t>Codemie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8BFDA"/>
                </a:solidFill>
              </a:rPr>
              <a:t>Codemie-claude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8BFDA"/>
                </a:solidFill>
              </a:rPr>
              <a:t>SpecKit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React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64592" y="4846320"/>
            <a:ext cx="3154680" cy="170992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01752" y="497433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BUSINESS CHALLENGES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" y="517550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01752" y="5248656"/>
            <a:ext cx="2880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900" dirty="0">
                <a:solidFill>
                  <a:srgbClr val="A8BFDA"/>
                </a:solidFill>
              </a:rPr>
              <a:t>Customers shopping on an e-commerce platform frequently need quick answers that today require digging through multiple places: a "My Orders" page, a help center full of policy articles, and sometimes a support ticket queue.</a:t>
            </a:r>
          </a:p>
          <a:p>
            <a:pPr>
              <a:lnSpc>
                <a:spcPct val="150000"/>
              </a:lnSpc>
              <a:buSzPct val="100000"/>
            </a:pP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483864" y="1143000"/>
            <a:ext cx="4892040" cy="9601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21024" y="127101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621024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21024" y="15453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A8BFDA"/>
                </a:solidFill>
              </a:rPr>
              <a:t>An AI chat assistant that gives e-commerce customers instant, accurate answers about their orders, deliveries, and policies by combining live order lookup with semantic search over policy/product docs — grounding every answer in real data and escalating to a human when it can't confidently resolve a request.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83864" y="2240280"/>
            <a:ext cx="4892040" cy="431596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21024" y="236829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SOLUTION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21024" y="25694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380"/>
                </a:solidFill>
              </a:rPr>
              <a:t>[ Architecture Diagram ]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48456" y="4837176"/>
            <a:ext cx="4562856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48456" y="4892040"/>
            <a:ext cx="45628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900" dirty="0">
                <a:solidFill>
                  <a:srgbClr val="A8BFDA"/>
                </a:solidFill>
              </a:rPr>
              <a:t>Solution: Tech Stack &amp; Architecture</a:t>
            </a:r>
          </a:p>
          <a:p>
            <a:pPr marL="171450" indent="-171450">
              <a:lnSpc>
                <a:spcPct val="145000"/>
              </a:lnSpc>
              <a:buFontTx/>
              <a:buChar char="-"/>
            </a:pPr>
            <a:r>
              <a:rPr lang="en-US" sz="900" dirty="0">
                <a:solidFill>
                  <a:srgbClr val="A8BFDA"/>
                </a:solidFill>
              </a:rPr>
              <a:t>Stack: .NET 10 + EF Core, React 19/Vite, PostgreSQL 17 + </a:t>
            </a:r>
            <a:r>
              <a:rPr lang="en-US" sz="900" dirty="0" err="1">
                <a:solidFill>
                  <a:srgbClr val="A8BFDA"/>
                </a:solidFill>
              </a:rPr>
              <a:t>pgvector</a:t>
            </a:r>
            <a:r>
              <a:rPr lang="en-US" sz="900" dirty="0">
                <a:solidFill>
                  <a:srgbClr val="A8BFDA"/>
                </a:solidFill>
              </a:rPr>
              <a:t>, </a:t>
            </a:r>
            <a:r>
              <a:rPr lang="en-US" sz="900" dirty="0" err="1">
                <a:solidFill>
                  <a:srgbClr val="A8BFDA"/>
                </a:solidFill>
              </a:rPr>
              <a:t>CodeMie</a:t>
            </a:r>
            <a:r>
              <a:rPr lang="en-US" sz="900" dirty="0">
                <a:solidFill>
                  <a:srgbClr val="A8BFDA"/>
                </a:solidFill>
              </a:rPr>
              <a:t> gateway → Claude Sonnet 5 + Voyage-2 embeddings, in a layered architecture with a </a:t>
            </a:r>
            <a:r>
              <a:rPr lang="en-US" sz="900" dirty="0" err="1">
                <a:solidFill>
                  <a:srgbClr val="A8BFDA"/>
                </a:solidFill>
              </a:rPr>
              <a:t>ReAct</a:t>
            </a:r>
            <a:r>
              <a:rPr lang="en-US" sz="900" dirty="0">
                <a:solidFill>
                  <a:srgbClr val="A8BFDA"/>
                </a:solidFill>
              </a:rPr>
              <a:t> agent loop</a:t>
            </a:r>
          </a:p>
          <a:p>
            <a:pPr marL="171450" indent="-171450">
              <a:lnSpc>
                <a:spcPct val="145000"/>
              </a:lnSpc>
              <a:buFontTx/>
              <a:buChar char="-"/>
            </a:pPr>
            <a:r>
              <a:rPr lang="en-US" sz="900" dirty="0">
                <a:solidFill>
                  <a:srgbClr val="A8BFDA"/>
                </a:solidFill>
              </a:rPr>
              <a:t>- Integration: </a:t>
            </a:r>
          </a:p>
          <a:p>
            <a:pPr marL="171450" indent="-171450">
              <a:lnSpc>
                <a:spcPct val="145000"/>
              </a:lnSpc>
              <a:buFontTx/>
              <a:buChar char="-"/>
            </a:pPr>
            <a:r>
              <a:rPr lang="en-US" sz="900" dirty="0">
                <a:solidFill>
                  <a:srgbClr val="A8BFDA"/>
                </a:solidFill>
              </a:rPr>
              <a:t>- Design decisions: vector + relational data live in one Postgres schema (</a:t>
            </a:r>
            <a:r>
              <a:rPr lang="en-US" sz="900" dirty="0" err="1">
                <a:solidFill>
                  <a:srgbClr val="A8BFDA"/>
                </a:solidFill>
              </a:rPr>
              <a:t>pgvector</a:t>
            </a:r>
            <a:r>
              <a:rPr lang="en-US" sz="900" dirty="0">
                <a:solidFill>
                  <a:srgbClr val="A8BFDA"/>
                </a:solidFill>
              </a:rPr>
              <a:t>) rather than a separate vector store. Using </a:t>
            </a:r>
            <a:r>
              <a:rPr lang="en-US" sz="900" dirty="0" err="1">
                <a:solidFill>
                  <a:srgbClr val="A8BFDA"/>
                </a:solidFill>
              </a:rPr>
              <a:t>Codemie</a:t>
            </a:r>
            <a:r>
              <a:rPr lang="en-US" sz="900" dirty="0">
                <a:solidFill>
                  <a:srgbClr val="A8BFDA"/>
                </a:solidFill>
              </a:rPr>
              <a:t> to facilitate working with </a:t>
            </a:r>
            <a:r>
              <a:rPr lang="en-US" sz="900" dirty="0" err="1">
                <a:solidFill>
                  <a:srgbClr val="A8BFDA"/>
                </a:solidFill>
              </a:rPr>
              <a:t>speckit</a:t>
            </a:r>
            <a:r>
              <a:rPr lang="en-US" sz="900" dirty="0">
                <a:solidFill>
                  <a:srgbClr val="A8BFDA"/>
                </a:solidFill>
              </a:rPr>
              <a:t> and Claude sonnet and get use of EPAM API key provided to employees.  React for light chat widget.</a:t>
            </a:r>
          </a:p>
        </p:txBody>
      </p:sp>
      <p:sp>
        <p:nvSpPr>
          <p:cNvPr id="67" name="Shape 65"/>
          <p:cNvSpPr/>
          <p:nvPr/>
        </p:nvSpPr>
        <p:spPr>
          <a:xfrm>
            <a:off x="8540496" y="1143000"/>
            <a:ext cx="3456432" cy="541324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677656" y="127101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OTHERS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677656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677656" y="1600200"/>
            <a:ext cx="36576" cy="1143000"/>
          </a:xfrm>
          <a:prstGeom prst="rect">
            <a:avLst/>
          </a:prstGeom>
          <a:solidFill>
            <a:srgbClr val="6B28E0"/>
          </a:solidFill>
          <a:ln w="12700">
            <a:solidFill>
              <a:srgbClr val="6B2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796528" y="169164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IMPACT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796528" y="191109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Creating complete AI chat bot in a very small amount of time.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677656" y="283464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677656" y="292608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796528" y="30175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LEARNINGS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796528" y="323697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I learned creating workflows with N8n.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I learned using SDD with </a:t>
            </a:r>
            <a:r>
              <a:rPr lang="en-US" sz="850" dirty="0" err="1">
                <a:solidFill>
                  <a:srgbClr val="A8BFDA"/>
                </a:solidFill>
              </a:rPr>
              <a:t>SpecKit</a:t>
            </a:r>
            <a:r>
              <a:rPr lang="en-US" sz="850" dirty="0">
                <a:solidFill>
                  <a:srgbClr val="A8BFDA"/>
                </a:solidFill>
              </a:rPr>
              <a:t>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I learned new knowledge about AI.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677656" y="416052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677656" y="425196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796528" y="434340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NEXT STEPS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796528" y="456285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Reviewing generated code to find problems to fix or enhancements that can be done.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677656" y="562356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796528" y="574243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ADDITIONAL NOTES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796528" y="5980176"/>
            <a:ext cx="3044952" cy="52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850" dirty="0">
                <a:solidFill>
                  <a:srgbClr val="4A6380"/>
                </a:solidFill>
              </a:rPr>
              <a:t>https://www.npmjs.com/package/@codemieai/code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5"/>
          </a:solidFill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01168" y="66111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.NET AI UPSKILL INITIATIVE — July 2026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9966960" y="66111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CONFIDENTIAL</a:t>
            </a:r>
            <a:endParaRPr lang="en-US" sz="70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04BF389-A5D7-40B8-DDCD-DDE5F981F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743" y="2663190"/>
            <a:ext cx="4554283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306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Wael El-Qamash</cp:lastModifiedBy>
  <cp:revision>2</cp:revision>
  <dcterms:created xsi:type="dcterms:W3CDTF">2026-04-23T17:39:49Z</dcterms:created>
  <dcterms:modified xsi:type="dcterms:W3CDTF">2026-07-16T08:53:57Z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2026-04-23T18:24:49Z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8989d48e-950a-4fe5-ab54-11814b72000a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